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【採用版型與風格】cover ｜ McKinsey &amp; Company</a:t>
            </a:r>
          </a:p>
          <a:p>
            <a:r>
              <a:t>① 本頁結論：本簡報以 2026/09/29 正式公告（案號 115YL006）19 份文件為唯一基準，採用無雜訊 8 大邏輯版型向管理層匯報決策。</a:t>
            </a:r>
          </a:p>
          <a:p>
            <a:r>
              <a:t>② 補充說明：正式公告已兌現預算統一 9,500 萬與賠償 100% 封頂，但同時新增全校光纖、10 台 ATS 與漏勾工程估驗款三大衝突。</a:t>
            </a:r>
          </a:p>
          <a:p>
            <a:r>
              <a:t>③ 下一頁轉場：首先以版型 1（一對一論法）檢視全校饋線中唯一特級保供主角——國研大樓 584kW。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1：一對一論法 (One-to-One) ｜ McKinsey &amp; Company</a:t>
            </a:r>
          </a:p>
          <a:p>
            <a:r>
              <a:t>① 本頁結論：GCB6 饋線總尖峰約 1,244kW，其中國研大樓單一建築即佔 584kW（47%），是整個微電網的核心主角。</a:t>
            </a:r>
          </a:p>
          <a:p>
            <a:r>
              <a:t>② 補充說明：在孤島或防災模式下，MGC 將優先切離 TR-AC 冰機與社管次要負載，確保國研大樓半導體實驗室不斷電。</a:t>
            </a:r>
          </a:p>
          <a:p>
            <a:r>
              <a:t>③ 下一頁轉場：確認保供主角後，下一頁以版型 2（並列論法）檢視儲能場域與雙 GFM PCS 的高分設計。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(Parallel) ｜ BCG (Boston Consulting Group)</a:t>
            </a:r>
          </a:p>
          <a:p>
            <a:r>
              <a:t>① 本頁結論：正式公告在機電規格上有兩大統一利多（135kWp 光電、6座充電樁）與一項評選新增要求（雙 GFM PCS）。</a:t>
            </a:r>
          </a:p>
          <a:p>
            <a:r>
              <a:t>② 補充說明：我方將 1,200kW PCS 拆為 2 台 600kW GFM 並聯，直接命中評選須知項次六 10% 加分靶心。</a:t>
            </a:r>
          </a:p>
          <a:p>
            <a:r>
              <a:t>③ 下一頁轉場：接下來以版型 3（結合論法）說明上中下三層 EMS/MGC 如何結合運作並解決 5 年日報表痛點。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3：結合論法 (Combined Tree) ｜ Accenture</a:t>
            </a:r>
          </a:p>
          <a:p>
            <a:r>
              <a:t>① 本頁結論：正式契約第 2 條(八)6 規定 5 年內須每日遠端監視並填寫操作日報表、每月交 PDF，逾期每日罰 2,000 元。</a:t>
            </a:r>
          </a:p>
          <a:p>
            <a:r>
              <a:t>② 補充說明：透過 POXA 內建全自動 PDF 報表生成引擎，可將 5 年 1,825 份人工報表成本降為零，並化解契約第 16 條原始碼衝突。</a:t>
            </a:r>
          </a:p>
          <a:p>
            <a:r>
              <a:t>③ 下一頁轉場：接著以版型 4（連鎖論法）檢視從公開閱覽、9/24 釋疑到 9/29 正式公告的三階段演變與工期鏈。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/ Flow) ｜ McKinsey &amp; Company</a:t>
            </a:r>
          </a:p>
          <a:p>
            <a:r>
              <a:t>① 本頁結論：三階段比對顯示，校方兌現了賠償上限與智財權，更驚喜將預算統一調升為 9,500 萬元。</a:t>
            </a:r>
          </a:p>
          <a:p>
            <a:r>
              <a:t>② 補充說明：然而正式公告也帶來了『漏勾工程估驗款』與『p.17 新增全校光纖與 10 台 ATS』等必須內部拍板的新議題。</a:t>
            </a:r>
          </a:p>
          <a:p>
            <a:r>
              <a:t>③ 下一頁轉場：接下來我們以版型 6（對立論法）與版型 7（比較論法）深入對比正式公告內部的條文衝突。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 (Opposition) ｜ McKinsey &amp; Company</a:t>
            </a:r>
          </a:p>
          <a:p>
            <a:r>
              <a:t>① 本頁結論：對立論法讓我們一眼看穿正式公告內部 4 處前後不一的條文漏洞。</a:t>
            </a:r>
          </a:p>
          <a:p>
            <a:r>
              <a:t>② 補充說明：特別是契約第 5 條漏勾工程估驗款，與後文 5% 估驗保留款直接矛盾，於等標期發函要求補正最具正當性。</a:t>
            </a:r>
          </a:p>
          <a:p>
            <a:r>
              <a:t>③ 下一頁轉場：針對需求書 p.17 新增的全校光纖與 10 台 ATS，我們用版型 7（比較論法）分析如何用 +300 萬預算池化解。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7：比較論法 (Comparison) ｜ BCG (Boston Consulting Group)</a:t>
            </a:r>
          </a:p>
          <a:p>
            <a:r>
              <a:t>① 本頁結論：為什麼校方在正式公告把需求書預算從 9,200 萬調高到 9,500 萬？正是因為在 p.17 加了光纖與 10 台 ATS。</a:t>
            </a:r>
          </a:p>
          <a:p>
            <a:r>
              <a:t>② 補充說明：只要我們引用 p.17『若原處交換器仍有足夠空間可共同使用』但書，並框定 ATS 標準容量，這 300 萬完全夠用。</a:t>
            </a:r>
          </a:p>
          <a:p>
            <a:r>
              <a:t>③ 下一頁轉場：接下來進入本簡報最核心的 Part 7：內部討論議題專區（D1 ~ D22），先看版型 8（BCG 2×2 矩陣）。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8：BCG 論法 (BCG 2×2 Matrix) ｜ BCG (Boston Consulting Group)</a:t>
            </a:r>
          </a:p>
          <a:p>
            <a:r>
              <a:t>① 本頁結論：透過 BCG 2×2 矩陣，全案 22 項內部討論議題的輕重緩急一目了然，右上角 X2Y2 象限是本週必須拍板的重中之重。</a:t>
            </a:r>
          </a:p>
          <a:p>
            <a:r>
              <a:t>② 補充說明：接下來四頁（版型 5 麥肯錫論法）將逐一展開專表一至專表四（D1~D22）的具體問題診斷與待拍板決策。</a:t>
            </a:r>
          </a:p>
          <a:p>
            <a:r>
              <a:t>③ 下一頁轉場：首先進入內部討論專表一（工程與預算類 D1 ~ D5）。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(McKinsey Argumentation) ｜ McKinsey &amp; Company</a:t>
            </a:r>
          </a:p>
          <a:p>
            <a:r>
              <a:t>① 本頁結論：專表一解決工程與採購最關心的硬體邊界：D1 光纖、D2 ATS 與 D3 雙 GFM PCS。</a:t>
            </a:r>
          </a:p>
          <a:p>
            <a:r>
              <a:t>② 補充說明：透過將 D1 鎖定在 120~180 萬、D2 鎖定在 100~150 萬，正好由正式公告調升的 300 萬元預算完全覆蓋。</a:t>
            </a:r>
          </a:p>
          <a:p>
            <a:r>
              <a:t>③ 下一頁轉場：接下來進入專表二（商務契約與財務現金流 D6 ~ D10）。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(McKinsey Argumentation) ｜ McKinsey &amp; Company</a:t>
            </a:r>
          </a:p>
          <a:p>
            <a:r>
              <a:t>① 本頁結論：專表二是財務長與法務室的核心戰場，最重要的一題是 D6『契約第 5 條漏勾工程估驗款』。</a:t>
            </a:r>
          </a:p>
          <a:p>
            <a:r>
              <a:t>② 補充說明：契約第 5 條後面好幾段都寫到『估驗計價保留款 5%』，證明主項沒打勾是校方行政疏漏，發函要求補正成功率極高。</a:t>
            </a:r>
          </a:p>
          <a:p>
            <a:r>
              <a:t>③ 下一頁轉場：接著進入專表三（EMS 軟體、原始碼與代操作 D11 ~ D16）。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(McKinsey Argumentation) ｜ Accenture</a:t>
            </a:r>
          </a:p>
          <a:p>
            <a:r>
              <a:t>① 本頁結論：專表三將原本可能耗費上百萬人力的『5 年 1,825 份操作日報表』轉化為 POXA 軟體自動化的最大賣點。</a:t>
            </a:r>
          </a:p>
          <a:p>
            <a:r>
              <a:t>② 補充說明：同時引用《16監造計畫需求書》第 5 頁條文，完美擋下契約第 16 條對核心平台原始碼的威脅。</a:t>
            </a:r>
          </a:p>
          <a:p>
            <a:r>
              <a:t>③ 下一頁轉場：最後看專表四（運轉驗證、動態模擬與標前行動 D17 ~ D22）。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(McKinsey Argumentation) ｜ BCG (Boston Consulting Group)</a:t>
            </a:r>
          </a:p>
          <a:p>
            <a:r>
              <a:t>① 本頁結論：以上 12 頁無雜訊簡報完整涵蓋正式公告定錨、衝突標示與 Part 7 全數 22 項內部討論議題。</a:t>
            </a:r>
          </a:p>
          <a:p>
            <a:r>
              <a:t>② 補充說明：請各部門主管針對 D1~D22 待拍板欄位進行最終確認，並於等標期前 1/4 期限內發出正式書面釋疑函。</a:t>
            </a:r>
          </a:p>
          <a:p>
            <a:r>
              <a:t>③ 下一頁轉場：簡報結束，以下開放高階主管與各部門針對 D1~D22 逐項拍板決議。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463040"/>
            <a:ext cx="16459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ZERO-NOISE CONSULTING BRIEFING  |  McKinsey × BCG × Accenture  |  案號：115YL006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國立中山大學微電網建置統包工程（正式公告版）</a:t>
            </a:r>
            <a:br/>
            <a:r>
              <a:t>投標決策、條款衝突與內部討論簡報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核心主張：正式公告將總預算調升至 9,500 萬（+300萬）且賠償上限 100% 封頂入約，建議採「積極備標 ＋ 等標期書面拆解估驗款與光纖/ATS地雷」雙軌推進。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AC4D2"/>
                </a:solidFill>
              </a:defRPr>
            </a:pPr>
            <a:r>
              <a:t>基準文件：2026/09/29 正式公告全套 19 份文件 ｜ 簡報系統：森秀明《無雜訊簡報 8 大版型》× 三大管顧視覺規範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1 · 場域負載定錨  ｜  版型 1：一對一論法 (One-to-One)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主張：GCB6 饋線四大場域中，國研大樓尖峰負載佔比高達 47% (584kW)，為第一優先保供核心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將次要教學與抽水負載設為中性灰階基準，唯獨以強調色突顯半導體實驗核心「國研大樓 584kW」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國立中山大學 115YL006 正式公告《06需求說明書》p.2~4、《18-國研大樓電力單線圖》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5284730"/>
            <a:ext cx="777240" cy="475989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93725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80 kW (6%)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A水池加壓站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4213755"/>
            <a:ext cx="777240" cy="1546964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3866283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260 kW (21%)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社會科學院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3856763"/>
            <a:ext cx="777240" cy="1903956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509291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320 kW (26%)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管理學院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2286000"/>
            <a:ext cx="777240" cy="3474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1C2C"/>
                </a:solidFill>
              </a:defRPr>
            </a:pPr>
            <a:r>
              <a:t>584 kW (47%)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國研大樓(主角)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11680"/>
            <a:ext cx="3200400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② 無雜訊證據解讀 (McKinsey Style)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國研大樓內含工學院半導體精密實驗設備，瞬態斷電將造成數百萬晶圓報廢。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正式公告新增《18-國研大樓電力單線圖》，明定 22.8kV 受電盤與 6 台變壓器配置。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3MWh 儲能與 1,200kW 雙 GFM PCS 直連國研高壓側（200m），實現 ≤20ms 無縫保供。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Part 2 · 評選加分亮點  ｜  版型 2：並列論法 (Parallel)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主張：為奪取正式公告評選須知與機電滿分，須並列落實「雙 GFM PCS、光電統一、五層消防」三大支柱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以三組同質性硬體工程支柱並列佐證（呼應正式公告《03評選須知》p.3 新增要求與《06需求書》修正）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國立中山大學 115YL006 正式公告《03評選須知》p.3、《06需求說明書》p.6, p.10~13, p.24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證據 1：雙 GFM PCS 虛擬慣量架構 (評選新增 10%)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評選須知 p.3 項次六新增要求「2台以上 PCS、2台 GFM 協調運轉」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規劃 2×600kW 構網型 (GFM) PCS 並聯，具備 N-1 孤島韌性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內建 VSG 虛擬慣量、虛擬阻抗均流與 P-f/Q-V Droop 控制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協同國研既有 400kW 柴發自動同期併聯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 證據 2：自用光電 430kWp 與充電樁 6 座正式統一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需求書表 1-1 正式將國研自用光電由 118kWp 修正為 135kWp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海工館停車場舊拆新設 295kWp，自用光電合計 430kWp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需求書 p.24 充電樁正式由四組修正為「六組（6座）」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預留風雨球場 1,475~2,000kWp 高壓與 EMS 介面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④ 證據 3：3MWh 儲能 C5-M 防蝕與五層消防合規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臨西子灣海堤第一排，櫃體採 C5-M 最高防鹽蝕與 IP65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電芯➔模組➔櫃體(防火1h)➔系統(UL9540A)➔場域細水霧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具備經濟部標檢局儲能 VPC 自願性產品驗證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投標前先行對接高市消防局儲能火災風險評估指引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Part 3 &amp; 6 · EMS 與代操作架構  ｜  版型 3：結合論法 (Combined Tree)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結論：POXA 結合「新建雲地 EMS ＋ 百毫秒 MGC ＋ 自動日報表引擎」，零人力化解 5 年代操作罰則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由兩大核心技術要素與五項底層事實同時成立，共同支撐 5 年（1,825 天）高可靠代操作與資安驗收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國立中山大學 115YL006 正式公告《04採購契約》p.4, p.35, p.39、《16監造計畫需求書》p.4~6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783080"/>
            <a:ext cx="8138160" cy="7315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① 頂層結論：100% 新建 POXA 雲地協同 EMS，同時通過 PCM 驗收並零人力完成 5 年 1,825 份操作日報表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193792" cy="77724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② 主要素 1：地端自治架構與雙層 IP 原始碼隔離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639824" cy="2286000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③ 事實 1 (新建判定)：</a:t>
            </a:r>
            <a:br/>
            <a:r>
              <a:t>依 9/24 釋疑自主判定不整合舊系統，於國研 IR1005 新建主機與 RAID5 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8504" y="3840480"/>
            <a:ext cx="1639824" cy="2286000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9944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③ 事實 2 (源碼切割)：</a:t>
            </a:r>
            <a:br/>
            <a:r>
              <a:t>依《16監造書》p.5 僅交付客製化區塊可編譯源碼，保護 POXA 核心 Binary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5488" y="3840480"/>
            <a:ext cx="1639824" cy="2286000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6928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③ 事實 3 (OT資安邊界)：</a:t>
            </a:r>
            <a:br/>
            <a:r>
              <a:t>OWASP 弱掃 Medium 歸零，滲透測試嚴格排除現場 OT 設備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193792" cy="77724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② 主要素 2：全自動 PDF 操作日報表與長輩友善介面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2528315" cy="2286000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3931920"/>
            <a:ext cx="23454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③ 事實 4 (化解契約第2條罰則)：</a:t>
            </a:r>
            <a:br/>
            <a:r>
              <a:t>每日 23:59 自動巡檢生成 PDF 操作日報表、每月自動彙送，免除 2,000元/日罰款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9115" y="3840480"/>
            <a:ext cx="2528315" cy="2286000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0555" y="3931920"/>
            <a:ext cx="23454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③ 事實 5 (60~65歲友善 UI)：</a:t>
            </a:r>
            <a:br/>
            <a:r>
              <a:t>極簡大字體防呆看板 + 雙 GFM 虛擬慣量調校面板 + 需量競價模擬器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4 &amp; 7 · 三階段演變與工期鏈  ｜  版型 4：連鎖論法 (Chain / Flow)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主張：歷經「閱覽版 ➔ 9/24釋疑 ➔ 9/29正式公告」三階段演進，已兌現四大利多但須拆解新浮現衝突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依招標文件三階段時間推進，清楚定錨哪些承諾已入約（綠燈）、哪些條款產生新衝突（紅燈）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國立中山大學微電網統包工程三階段文件全量交叉稽核（公開閱覽 ➔ 09/24 釋疑 ➔ 09/29 正式公告 115YL006）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874519"/>
            <a:ext cx="10728655" cy="384048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② 招標文件三階段時間演進與條款定錨軌跡  ───►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2468880"/>
            <a:ext cx="3423818" cy="7772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 順序 1：公開閱覽版 (16份文件)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3423818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05805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預算矛盾：須知 9,500 萬 vs 需求書 9,200 萬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賠償無上限：契約第19條四個選項全空白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智財歸機關：勾選機關取得全部權利與源碼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規格矛盾：國研光電 118/135kW、充電樁 6/4座</a:t>
            </a:r>
          </a:p>
        </p:txBody>
      </p:sp>
      <p:sp>
        <p:nvSpPr>
          <p:cNvPr id="11" name="Chevron 10"/>
          <p:cNvSpPr/>
          <p:nvPr/>
        </p:nvSpPr>
        <p:spPr>
          <a:xfrm>
            <a:off x="4383938" y="2468880"/>
            <a:ext cx="3423818" cy="7772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 順序 2：09/24 第一次釋疑 (書面+錄音)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3383280"/>
            <a:ext cx="3423818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3520440"/>
            <a:ext cx="305805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承諾賠償封頂：改勾「契約價金總額 (100%)」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承諾智財使用權：改採中正大學永久無償利用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技術減負：免輔助服務實測、排除燃料電池 30h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口頭承諾：排除陸資即可、廠商自判新建 EMS</a:t>
            </a:r>
          </a:p>
        </p:txBody>
      </p:sp>
      <p:sp>
        <p:nvSpPr>
          <p:cNvPr id="14" name="Chevron 13"/>
          <p:cNvSpPr/>
          <p:nvPr/>
        </p:nvSpPr>
        <p:spPr>
          <a:xfrm>
            <a:off x="8036356" y="2468880"/>
            <a:ext cx="3423818" cy="777240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 順序 3：09/29 正式公告 (115YL006)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3383280"/>
            <a:ext cx="3423818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9236" y="3520440"/>
            <a:ext cx="305805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✔ 已兌現：預算統一 9,500 萬、賠償 100%、智財使用權、光電 135kWp、增 18/19 號圖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🚨 致命漏勾：契約第 5 條漏勾「工程估驗款」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🚨 突襲新增：p.17 全校光纖重拉 ＋ 10 台老舊 ATS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⚠️ 殘留衝突：須知第16點電氣台製未改、評選雙表落差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4 · 正式公告內部條文對立  ｜  版型 6：對立論法 (Opposition)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主張：正式公告內部存在四大「條文 A vs 條文 B」對立衝突，必須透過等標期書面釋疑與建議書雙軌包覆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針對同一套正式公告招標文件內部的自我矛盾，並列對照「條文 A」與「條文 B」以確立防禦底線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國立中山大學 115YL006 正式公告《02投標須知》、《03評選須知》、《04採購契約》、《16監造計畫需求書》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4297680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對立見解 A：正式公告嚴苛/漏勾條文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29768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對立見解 B：同套文件/釋疑之保護條文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施工期估驗款</a:t>
            </a:r>
            <a:br/>
            <a:r>
              <a:t>(討論 D6)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68880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《04契約》p.7 第5條(一)3「□工程估驗款（未勾選者表示無估驗款）」空白未勾！僅勾設計費與驗收後付款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68880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《04契約》p.7~8 後文卻明載「估驗計價保留款5%」，且《14權責表》列有估驗請款，顯屬機關製約漏勾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47288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原產地限制</a:t>
            </a:r>
            <a:br/>
            <a:r>
              <a:t>(討論 D7)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447288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《02須知》p.5~6 第16點(2) 外國標的漏勾，且仍勾選「■電氣設備、■太陽能設備」等 13 項須我國產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447288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09/24 釋疑口頭明確承諾參照中正大學範本「排除中國大陸即可，允許日韓歐美設備」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25696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評選項目二與六</a:t>
            </a:r>
            <a:br/>
            <a:r>
              <a:t>(討論 D3/D4)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425696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《03評選須知》p.3 正文表：刪除風雨球場字樣，項次六新增「雙 GFM PCS 虛擬慣量/阻抗/Droop 實績」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425696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《03評選須知》p.8 附件一委員評分表：項次二仍印「風雨球場與甘特圖」，項次六僅印「1.創意 2.CSR」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04104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原始碼移轉</a:t>
            </a:r>
            <a:br/>
            <a:r>
              <a:t>(討論 D12)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404104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《04契約》p.35 第16條(一)2(11) 驗收文件仍勾選「■可編譯（Compilable）之原始程式移轉規定」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404104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《16監造書》p.5 明定「客製化區塊原始碼（不含統包商自有核心平台原始碼）」，且契約第19條改勾使用權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Part 2 &amp; 5 · 預算調升與新增工項比較  ｜  版型 7：比較論法 (Comparison)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主張：正式公告調升 300 萬預算（9,500萬）與 p.17 新增光纖/ATS 互為對價，須鎖定共構與容量上限以保毛利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找出「預算調升 +300 萬」與「p.17 新增光纖/ATS」之交集平衡點，避免無上限施工侵蝕核心利潤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國立中山大學 115YL006 正式公告《06需求說明書》p.7, p.17、《10空白標單》、《19-EMS光纖佈建圖》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74720" cy="41148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04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74720" cy="41148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965960"/>
            <a:ext cx="3474720" cy="41148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04F32"/>
                </a:solidFill>
              </a:defRPr>
            </a:pPr>
            <a:r>
              <a:t>① 正式公告預算利多（④ 差異點 A）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《06需求書》p.7 正式改為 9,500 萬元含稅（+300萬）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消除閱覽版 9,200 萬 vs 9,500 萬之報價廢標陷阱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最有利標價格佔 20%，可定價於 9,380~9,460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29BA74"/>
                </a:solidFill>
              </a:defRPr>
            </a:pPr>
            <a:r>
              <a:t>③ 成本風控交集（項次壹-五 預算池鎖定）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【核心平衡策略】：將調升之 300 萬元精準配置於標單「壹-五」，專款吸收光纖共構與 10 台標準型 ATS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【建議書紅線】：明訂「優先共用既有交換器與光纖空芯」及「10台 400A~600A 級以下標準 ATS 機芯更新」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177B57"/>
                </a:solidFill>
              </a:defRPr>
            </a:pPr>
            <a:r>
              <a:t>① 需求書 p.17 突增工項（④ 差異點 B）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新增 1：依 19 號圖再佈置全校同規模光纖及交換器專供 EMS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新增 2：評估及更新全校老舊發電機 ATS（上限 10 台）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風險：空白標單無獨立項次，若全校開挖重拉將超支數百萬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Part 5 &amp; 7 · 內部討論總綱與 BCG 矩陣  ｜  版型 8：BCG 論法 (BCG 2×2 Matrix)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主張：以「財務/成本衝擊 × 合規/驗收風險」2×2 矩陣定位全案 22 項內部議題，優先拍板右上象限 6 大紅燈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融合對立論法与比較論法：將 Part 7 之 22 項內部討論議題（D1~D22）精準歸入四大跨部門決策象限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進能服（6692）Part 7 內部討論議題專區 BCG 2×2 決策優先序矩陣（涵蓋 D1 ~ D22 共 22 項議題）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371600" cy="3749039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② 合規與驗收風險 (Y)</a:t>
            </a:r>
            <a:br/>
            <a:br/>
            <a:r>
              <a:t>高風險 (Y2)</a:t>
            </a:r>
            <a:br/>
            <a:r>
              <a:t>▲</a:t>
            </a:r>
            <a:br/>
            <a:r>
              <a:t>│</a:t>
            </a:r>
            <a:br/>
            <a:r>
              <a:t>▼</a:t>
            </a:r>
            <a:br/>
            <a:r>
              <a:t>可控風險 (Y1)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760720"/>
            <a:ext cx="9052560" cy="438912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◄ 中低成本衝擊 (X1)                    ② 財務與現金流衝擊 (X)                    極高財務/成本衝擊 (X2) 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874519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(象限 X1Y2) EMS 源碼與 5 年日報表 [專表三 D11~D16]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D12 契約第16條可編譯源碼移轉 vs 監造書切割防線</a:t>
            </a:r>
            <a:br/>
            <a:r>
              <a:t>• D13 契約第2條「5年每日操作日報表(PDF)」全自動化</a:t>
            </a:r>
            <a:br/>
            <a:r>
              <a:t>• D11 自判新建 POXA EMS / D16 排除 OT 滲透測試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74519"/>
            <a:ext cx="4434840" cy="1810512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4F32"/>
                </a:solidFill>
              </a:defRPr>
            </a:pPr>
            <a:r>
              <a:t>③ (象限 X2Y2) 致命現金流與暴增工項 ★ 拍板焦點 [D1~D3, D6~D8]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D6 契約第5條漏勾「工程估驗款」(9,000萬墊資風險)</a:t>
            </a:r>
            <a:br/>
            <a:r>
              <a:t>• D1 全校同規模 EMS 光纖重拉 / D2 10台老舊發電機 ATS</a:t>
            </a:r>
            <a:br/>
            <a:r>
              <a:t>• D3 雙 GFM PCS 虛擬慣量 / D7 電氣台製 / D8 雙重保證金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822191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(象限 X1Y1) 規格統一與既定基準 [D4~D5, D14~D15]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D4 國研光電統一 135kWp + 充電樁 6 座 + 球場介面</a:t>
            </a:r>
            <a:br/>
            <a:r>
              <a:t>• D5 ABB REF-615 電驛 5 台與 SPD 32 台上限鎖定</a:t>
            </a:r>
            <a:br/>
            <a:r>
              <a:t>• D14 32節點 Gateway 預算 / D15 60~65歲長輩友善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822191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(象限 X2Y1) 標單定價、模擬與正式釋疑 [專表四 D9~D10, D17~D22]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D9 9,500萬標單配比與無物調準備金 / D10 工程保險</a:t>
            </a:r>
            <a:br/>
            <a:r>
              <a:t>• D20 備標期投入 ETAP 保護協調與雙 GFM 動態模擬</a:t>
            </a:r>
            <a:br/>
            <a:r>
              <a:t>• D18 假負載 SAT 驗證 / D22 等標期正式書面釋疑函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7 · 內部討論專表一 (D1~D5)  ｜  版型 5：麥肯錫論法 (McKinsey Argumentation)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主張：內部討論一（工程與預算 D1~D5）：須鎖定光纖共構 150 萬、10 台 ATS 120 萬與雙 GFM PCS 並聯型號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橫軸展開工程機電核心議題（D1 全校光纖、D2 10台ATS、D3 雙GFM PCS + D4/D5），縱軸對應衝突診斷與拍板方案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進能服（6692）Part 7 內部討論專表一（工程機電與預算邊界 D1 ~ D5）｜ 主責：機電設計組、工務部、採購部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D1：全校 EMS 光纖重拉</a:t>
            </a:r>
            <a:br/>
            <a:r>
              <a:t>(需求書 p.17 &amp; 19號圖)</a:t>
            </a:r>
          </a:p>
        </p:txBody>
      </p:sp>
      <p:sp>
        <p:nvSpPr>
          <p:cNvPr id="8" name="Chevron 7"/>
          <p:cNvSpPr/>
          <p:nvPr/>
        </p:nvSpPr>
        <p:spPr>
          <a:xfrm>
            <a:off x="5770778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D2：10台老舊發電機 ATS</a:t>
            </a:r>
            <a:br/>
            <a:r>
              <a:t>(需求書 p.17 突襲新增)</a:t>
            </a:r>
          </a:p>
        </p:txBody>
      </p:sp>
      <p:sp>
        <p:nvSpPr>
          <p:cNvPr id="9" name="Chevron 8"/>
          <p:cNvSpPr/>
          <p:nvPr/>
        </p:nvSpPr>
        <p:spPr>
          <a:xfrm>
            <a:off x="8706916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D3~D5：雙 GFM PCS / 135kWp</a:t>
            </a:r>
            <a:br/>
            <a:r>
              <a:t>(評選須知 p.3 &amp; 18號圖)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1：</a:t>
            </a:r>
            <a:br/>
            <a:r>
              <a:t>正式公告衝突</a:t>
            </a:r>
            <a:br/>
            <a:r>
              <a:t>與成本風險診斷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🚨 需求書 p.17 突增「依 19 號圖再佈置同規模同等級光纖及交換器專供 EMS 使用」；若全校 30 處跨山海重挖重拉，成本恐逾 500 萬且標單無獨立項次！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0778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938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🚨 需求書 p.17 突增「協助評估及更新本校發電機老舊之 ATS 上限 10 台」；未給各館舍發電機安培數（100A 與 1600A 價差數倍）與盤體空間！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6916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4076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🆕 評選須知 p.3 項次六新增「2台以上 PCS、2台 GFM 協調、虛擬慣量/阻抗/Droop 實績」（p.8 漏印）；需求書 p.11 殘留 118kWp 字眼。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2：</a:t>
            </a:r>
            <a:br/>
            <a:r>
              <a:t>內部拍板方案</a:t>
            </a:r>
            <a:br/>
            <a:r>
              <a:t>與預算紅線設定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✔ 雙軌鎖定：(1) 書面釋疑確認僅針對無空間/故障段；(2) 引用「原處有空間可共用」但書，建議書框定共構原則與國研專線（拍板預算上限 120~180 萬）。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0778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938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✔ 規格封頂：(1) 書面釋疑索取 10 台容量清單；(2) 建議書主動定義「上限 10 台標準型 4P 400A~600A 級以下 PC 級 ATS 機芯置換」（拍板預算 100~150 萬）。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6916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4076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✔ 技術加分：(1) 拍板採 2×600kW 雙 GFM PCS 並聯架構拿滿 10%；(2) 光電從高按 135kWp 設計並保留風雨球場介面；(3) 電驛鎖死 5 台 ABB REF-615 上限。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7 · 內部討論專表二 (D6~D10)  ｜  版型 5：麥肯錫論法 (McKinsey Argumentation)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主張：內部討論二（契約與現金流 D6~D10）：立即發函要求補正「工程估驗款」，並以銀行保函釋放 332 萬現金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橫軸展開商務財務核心議題（D6 漏勾估驗款、D7 原產地未改、D8~D10 保證金與定價），縱軸對應財務衝擊與決策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進能服（6692）Part 7 內部討論專表二（商務契約與財務現金流 D6 ~ D10）｜ 主責：高階主管、財務部、法務室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D6：漏勾「工程估驗款」</a:t>
            </a:r>
            <a:br/>
            <a:r>
              <a:t>(04契約第5條 p.7 致命衝突)</a:t>
            </a:r>
          </a:p>
        </p:txBody>
      </p:sp>
      <p:sp>
        <p:nvSpPr>
          <p:cNvPr id="8" name="Chevron 7"/>
          <p:cNvSpPr/>
          <p:nvPr/>
        </p:nvSpPr>
        <p:spPr>
          <a:xfrm>
            <a:off x="5770778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D7：電氣設備須台製未改</a:t>
            </a:r>
            <a:br/>
            <a:r>
              <a:t>(02須知第16點 p.5~6 衝突)</a:t>
            </a:r>
          </a:p>
        </p:txBody>
      </p:sp>
      <p:sp>
        <p:nvSpPr>
          <p:cNvPr id="9" name="Chevron 8"/>
          <p:cNvSpPr/>
          <p:nvPr/>
        </p:nvSpPr>
        <p:spPr>
          <a:xfrm>
            <a:off x="8706916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D8~D10：雙重保證金與定價</a:t>
            </a:r>
            <a:br/>
            <a:r>
              <a:t>(04契約第14、19條 &amp; 標單)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1：</a:t>
            </a:r>
            <a:br/>
            <a:r>
              <a:t>正式公告衝突</a:t>
            </a:r>
            <a:br/>
            <a:r>
              <a:t>與財務風險診斷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🚨 契約第5條(一)勾選設計費与驗收付款，但「3.□工程估驗款（未勾選表示無估驗款）」空白！與後文 5% 估驗保留款及《14權責表》嚴重矛盾，恐致 9,000 萬全額墊資！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0778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938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⚠️ 09/24 口頭承諾排除陸資即可，但正式公告《02須知》第16點(2) 外國標的仍漏勾，且仍勾選「■電氣設備、■太陽能設備」等 13 項須我國產！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6916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4076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⚠️ 契約第14條同時勾選「10% 履約金押至保固期滿」＋「3% 保固金」，形同 5 年凍結 3.5%（約 332.5 萬）；契約無物調，賠償上限已封頂 100%。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2：</a:t>
            </a:r>
            <a:br/>
            <a:r>
              <a:t>內部拍板方案</a:t>
            </a:r>
            <a:br/>
            <a:r>
              <a:t>與財務法務對策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✔ 雙重決策：(1) 等標期第一優先發函指明前後條文矛盾，要求補充公告勾選「■工程估驗款」；(2) 財務部同步評估萬一不改時 8,500~9,000 萬 (8個月) 融資額度底線。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0778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938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✔ 合規防線：(1) 等標期書面釋疑請校方確認「非陸資之日韓歐美電芯/PCS/電驛合規」；(2) 建議書標註儲能櫃為「台灣組裝 VPC 認證（非陸資電芯）」。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6916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4076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✔ 資金效率：(1) D8 履約金與保固金全數採「銀行連帶保證書」繳納（5年手續費約 18 萬計入成本）；(2) D9 總報價定於 9,380~9,460 萬；(3) D10 編列 50 萬工程全險。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Part 7 · 內部討論專表三 (D11~D16)  ｜  版型 5：麥肯錫論法 (McKinsey Argumentation)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主張：內部討論三（EMS 與資安 D11~D16）：拍板二元原始碼交付清單與「全自動每日 PDF 操作日報表引擎」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橫軸展開軟體資安議題（D11~D12 新建與原始碼、D13 5年日報表、D14~D16 節點與資安），縱軸對應痛點與技術解方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進能服（6692）Part 7 內部討論專表三（EMS 軟體、原始碼與代操作 D11 ~ D16）｜ 主責：POXA 軟體團隊、資安組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753258" cy="59436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D11 &amp; D12：新建 EMS 與原始碼</a:t>
            </a:r>
            <a:br/>
            <a:r>
              <a:t>(契約第16條 vs 第19條 &amp; 監造書)</a:t>
            </a:r>
          </a:p>
        </p:txBody>
      </p:sp>
      <p:sp>
        <p:nvSpPr>
          <p:cNvPr id="8" name="Chevron 7"/>
          <p:cNvSpPr/>
          <p:nvPr/>
        </p:nvSpPr>
        <p:spPr>
          <a:xfrm>
            <a:off x="5770778" y="1828800"/>
            <a:ext cx="2753258" cy="59436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D13：5年每日遠端監視日報表</a:t>
            </a:r>
            <a:br/>
            <a:r>
              <a:t>(契約第2條(八)6 每日罰2,000元)</a:t>
            </a:r>
          </a:p>
        </p:txBody>
      </p:sp>
      <p:sp>
        <p:nvSpPr>
          <p:cNvPr id="9" name="Chevron 8"/>
          <p:cNvSpPr/>
          <p:nvPr/>
        </p:nvSpPr>
        <p:spPr>
          <a:xfrm>
            <a:off x="8706916" y="1828800"/>
            <a:ext cx="2753258" cy="59436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D14~D16：32節點 / 長輩UI / 資安</a:t>
            </a:r>
            <a:br/>
            <a:r>
              <a:t>(19號光纖圖 &amp; 9/24釋疑定錨)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1：</a:t>
            </a:r>
            <a:br/>
            <a:r>
              <a:t>正式公告條文</a:t>
            </a:r>
            <a:br/>
            <a:r>
              <a:t>與軟體痛點診斷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2753258" cy="1691640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⚠️ 契約第19條已改勾「永久無償利用」，且《16監造書》p.5 明定「不含核心平台原始碼」；但契約第16條(p.35)驗收文件仍勾選「■可編譯原始程式移轉」！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0778" y="2606040"/>
            <a:ext cx="2753258" cy="1691640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938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🚨 契約第2條(八)6 明定 5 年代操作期間「須每日遠端監視並記載於操作日報表；每月定期彙送 PDF 檔存查」，逾期每日罰 2,000 元（共 1,825 份日報表）！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6916" y="2606040"/>
            <a:ext cx="2753258" cy="1691640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4076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🔌 19號光纖圖標示全校 32 處節點需轉接納管；曾先生要求 60~65 歲國中程度人員易操作 UI；驗收需通過 OWASP 弱掃與第三方滲透測試。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2：</a:t>
            </a:r>
            <a:br/>
            <a:r>
              <a:t>內部拍板方案</a:t>
            </a:r>
            <a:br/>
            <a:r>
              <a:t>與 POXA 技術解方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480560"/>
            <a:ext cx="2753258" cy="169164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✔ 二元切割：(1) D11 直接判定 100% 新建 POXA EMS；(2) D12 依監造書 p.5 於建議書明列「客製化可編譯源碼清單（Web前端/報表）」與「核心 Binary 授權清單」。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0778" y="4480560"/>
            <a:ext cx="2753258" cy="169164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938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✔ 零人力自動化：POXA 內建「AI 每日巡檢與 PDF 日報表自動生成引擎」，每日 23:59 自動產製簽章 PDF 存入 NAS 並於每月 1 日自動寄送，人工成本歸零！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6916" y="4480560"/>
            <a:ext cx="2753258" cy="169164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4076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✔ 封頂與隔離：(1) D14 編列 32 組 Modbus Gateway 預算（約 35 萬）；(2) D15 產出高對比大字體防呆 UI 截圖；(3) D16 編 20 萬資安檢測費並明訂排除 OT 現場。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Part 7 · 內部討論專表四 (D17~D22)  ｜  版型 5：麥肯錫論法 (McKinsey Argumentation)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主張：內部討論四（驗證與行動 D17~D22）：拍板備標期投入 ETAP 模擬、假負載 SAT 與等標期正式書面釋疑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橫軸展開運轉驗證與標前行動（D17~D19 運轉邊界、D20~D21 模擬與節能、D22 正式書面釋疑），完成決策閉環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進能服（6692）Part 7 內部討論專表四（運轉驗證、模擬與標前行動 D17 ~ D22）｜ 主責：專案總監、業務部、電力模擬組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753258" cy="594360"/>
          </a:xfrm>
          <a:prstGeom prst="chevron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D17~D19：48h柴油 / SAT / 輔助服務</a:t>
            </a:r>
            <a:br/>
            <a:r>
              <a:t>(06需求書 &amp; 9/24釋疑結論入約)</a:t>
            </a:r>
          </a:p>
        </p:txBody>
      </p:sp>
      <p:sp>
        <p:nvSpPr>
          <p:cNvPr id="8" name="Chevron 7"/>
          <p:cNvSpPr/>
          <p:nvPr/>
        </p:nvSpPr>
        <p:spPr>
          <a:xfrm>
            <a:off x="5770778" y="1828800"/>
            <a:ext cx="2753258" cy="594360"/>
          </a:xfrm>
          <a:prstGeom prst="chevron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D20 &amp; D21：ETAP 模擬與降契約容量</a:t>
            </a:r>
            <a:br/>
            <a:r>
              <a:t>(18號單線圖 &amp; 評選須知 p.3)</a:t>
            </a:r>
          </a:p>
        </p:txBody>
      </p:sp>
      <p:sp>
        <p:nvSpPr>
          <p:cNvPr id="9" name="Chevron 8"/>
          <p:cNvSpPr/>
          <p:nvPr/>
        </p:nvSpPr>
        <p:spPr>
          <a:xfrm>
            <a:off x="8706916" y="1828800"/>
            <a:ext cx="2753258" cy="594360"/>
          </a:xfrm>
          <a:prstGeom prst="chevron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D22：等標期正式書面釋疑函</a:t>
            </a:r>
            <a:br/>
            <a:r>
              <a:t>(依政府採購法第 41 條法定程序)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1：</a:t>
            </a:r>
            <a:br/>
            <a:r>
              <a:t>執行痛點與</a:t>
            </a:r>
            <a:br/>
            <a:r>
              <a:t>法規效力診斷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2753258" cy="1691640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⚡ 災時 48h 供電需切離冰機並補油；國研半導體實驗室忌諱無預警斷電實測 SAT；台電輔助服務若實測接入需耗資數百萬建置 M1/M2 表計。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0778" y="2606040"/>
            <a:ext cx="2753258" cy="1691640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938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🧮 細設 40 天內須交全校保護協調模擬且逾 1 次修正計工期；評選 p.3 新增雙 GFM 虛擬慣量實績；圖 1-5 載明降契約容量 1,000kW 恐被當作保底保證。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6916" y="2606040"/>
            <a:ext cx="2753258" cy="1691640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4076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🚨 09/24 公開閱覽釋疑不自動具正式招標文件修正效力！面對正式公告之漏勾估驗款、原產地未改、p.17 新增光纖/ATS，必須取得正式補充公告！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2：</a:t>
            </a:r>
            <a:br/>
            <a:r>
              <a:t>內部拍板方案</a:t>
            </a:r>
            <a:br/>
            <a:r>
              <a:t>與立即行動指派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480560"/>
            <a:ext cx="2753258" cy="16916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✔ 寫入建議書：(1) D17 明載切離 TR-AC 2750kVA 冰機且柴油由校方自備；(2) D18 採假負載箱預驗 + 歲修日實測兩階段 SAT；(3) D19 以軟體模擬看板呈現需量反應。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0778" y="4480560"/>
            <a:ext cx="2753258" cy="16916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938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✔ 備標搶跑：(1) D20 拍板於備標階段即由技師依《18號單線圖》建立 ETAP 保護協調與雙 GFM 瞬態波形放入建議書；(2) D21 載明降 1,000kW 須結合風雨球場與空調管理。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6916" y="4480560"/>
            <a:ext cx="2753258" cy="16916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4076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✔ 立即發函：拍板由業務部會同法務室，於等標期前 1/4 截止日前正式發出「5 大招標文件疑義請求釋疑暨補充公告函」（涵蓋 D6、D7、D1、D2、D12）！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